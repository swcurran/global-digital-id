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E8C547"/>
                </a:solidFill>
              </a:defRPr>
            </a:pPr>
            <a:r>
              <a:t>How Many Digital IDs Per Citizen?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ADE80"/>
                </a:solidFill>
              </a:defRPr>
            </a:pPr>
            <a:r>
              <a:t>Single Issuer Model - Government issues ONE digital credential per person (33 jurisdictions)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C547"/>
                </a:solidFill>
              </a:defRPr>
            </a:pPr>
            <a:r>
              <a:t>Americas: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645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Brazil, Mexico, Argentina, Chile, Colombia, Peru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C547"/>
                </a:solidFill>
              </a:defRPr>
            </a:pPr>
            <a:r>
              <a:t>Europe: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0574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Germany, Italy, Spain, France, Netherlands, Portugal, Austria, Belgium, Ireland, Poland, Czech Republic, Greece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C547"/>
                </a:solidFill>
              </a:defRPr>
            </a:pPr>
            <a:r>
              <a:t>Asia-Pacific: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468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India, South Korea, Taiwan, Malaysia, Thailand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C547"/>
                </a:solidFill>
              </a:defRPr>
            </a:pPr>
            <a:r>
              <a:t>Middle East: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880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Israel, UAE, Saudi Arabia, Qatar, Oman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C547"/>
                </a:solidFill>
              </a:defRPr>
            </a:pPr>
            <a:r>
              <a:t>Africa: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29184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Nigeria, Kenya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03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C547"/>
                </a:solidFill>
              </a:defRPr>
            </a:pPr>
            <a:r>
              <a:t>North America: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703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US (14 states), Canada provinces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E8C547"/>
                </a:solidFill>
              </a:defRPr>
            </a:pPr>
            <a:r>
              <a:t>How Many Digital IDs Per Citizen?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ADE80"/>
                </a:solidFill>
              </a:defRPr>
            </a:pPr>
            <a:r>
              <a:t>Cloud-Based Model - Browser/app account, no physical credential issued (14 jurisdictions)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Asia-Pacific: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6459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Australia (myID), Singapore (SingPass), China (Cyber ID), Hong Kong, New Zealand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Europe: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0574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UK (GOV.UK), Norway, Denmark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Americas: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468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Brazil (Gov.br)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Africa: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880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Kenya (eCitizen), Ghana, South Africa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E8C547"/>
                </a:solidFill>
              </a:defRPr>
            </a:pPr>
            <a:r>
              <a:t>How Many Digital IDs Per Citizen?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ADE80"/>
                </a:solidFill>
              </a:defRPr>
            </a:pPr>
            <a:r>
              <a:t>Multiple Providers Model - Banks/telcos issue credentials (3 jurisdictions)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ADE80"/>
                </a:solidFill>
              </a:defRPr>
            </a:pPr>
            <a:r>
              <a:t>Estonia: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645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ID card + Mobile-ID + Smart-ID (multiple credentials per person)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ADE80"/>
                </a:solidFill>
              </a:defRPr>
            </a:pPr>
            <a:r>
              <a:t>Sweden: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103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BankID from multiple banks (common to have 3-4 BankIDs)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ADE80"/>
                </a:solidFill>
              </a:defRPr>
            </a:pPr>
            <a:r>
              <a:t>Finland: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560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Findy network + bank credentials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943600"/>
            <a:ext cx="13716000" cy="1097280"/>
          </a:xfrm>
          <a:prstGeom prst="roundRect">
            <a:avLst/>
          </a:prstGeom>
          <a:solidFill>
            <a:srgbClr val="16213E"/>
          </a:solidFill>
          <a:ln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Key Insight: Most jurisdictions (67%) use a single issuer model. Multiple provider models are rare and typically found in Northern Europe with strong banking sectors.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E8C547"/>
                </a:solidFill>
              </a:defRPr>
            </a:pPr>
            <a:r>
              <a:t>Technology Approaches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ADE80"/>
                </a:solidFill>
              </a:defRPr>
            </a:pPr>
            <a:r>
              <a:t>Underlying Credential Formats &amp;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ISO mDL (mobile DL)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828800"/>
            <a:ext cx="7315200" cy="365760"/>
          </a:xfrm>
          <a:prstGeom prst="roundRect">
            <a:avLst/>
          </a:prstGeom>
          <a:solidFill>
            <a:srgbClr val="E8C547"/>
          </a:solidFill>
          <a:ln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1737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OIDC-style auth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331720"/>
            <a:ext cx="6400800" cy="365760"/>
          </a:xfrm>
          <a:prstGeom prst="round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0" y="2240279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39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EUDI Wallet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834639"/>
            <a:ext cx="2743200" cy="36576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743199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37559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PKI-based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3337559"/>
            <a:ext cx="1828800" cy="36576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3246119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40479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Verifiable Credentials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3840479"/>
            <a:ext cx="1371600" cy="365760"/>
          </a:xfrm>
          <a:prstGeom prst="round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3749039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43399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PKI + Mobile 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4343399"/>
            <a:ext cx="914400" cy="365760"/>
          </a:xfrm>
          <a:prstGeom prst="round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4251959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19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Biometric Database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4846319"/>
            <a:ext cx="914400" cy="365760"/>
          </a:xfrm>
          <a:prstGeom prst="round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4754879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6217920"/>
            <a:ext cx="13716000" cy="1097280"/>
          </a:xfrm>
          <a:prstGeom prst="roundRect">
            <a:avLst/>
          </a:prstGeom>
          <a:solidFill>
            <a:srgbClr val="16213E"/>
          </a:solidFill>
          <a:ln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Emerging Trend: ISO 18013-5 (mobile Driver License) is the most common format in the US. EUDI Wallet adoption accelerating in Europe with 2026 deadline.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